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3"/>
    <p:sldId id="263" r:id="rId4"/>
    <p:sldId id="257" r:id="rId5"/>
    <p:sldId id="258" r:id="rId6"/>
    <p:sldId id="259" r:id="rId7"/>
    <p:sldId id="260" r:id="rId8"/>
    <p:sldId id="261" r:id="rId9"/>
    <p:sldId id="271" r:id="rId10"/>
    <p:sldId id="262" r:id="rId12"/>
    <p:sldId id="264" r:id="rId13"/>
    <p:sldId id="265" r:id="rId14"/>
    <p:sldId id="266" r:id="rId15"/>
    <p:sldId id="267" r:id="rId16"/>
    <p:sldId id="268" r:id="rId17"/>
    <p:sldId id="269" r:id="rId18"/>
    <p:sldId id="270" r:id="rId19"/>
    <p:sldId id="272" r:id="rId20"/>
    <p:sldId id="274" r:id="rId21"/>
    <p:sldId id="275" r:id="rId22"/>
    <p:sldId id="273" r:id="rId23"/>
    <p:sldId id="276" r:id="rId24"/>
    <p:sldId id="277"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7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688975" y="429260"/>
            <a:ext cx="10173335" cy="5283200"/>
          </a:xfrm>
          <a:prstGeom prst="rect">
            <a:avLst/>
          </a:prstGeom>
          <a:noFill/>
        </p:spPr>
        <p:txBody>
          <a:bodyPr wrap="square" rtlCol="0">
            <a:noAutofit/>
          </a:bodyPr>
          <a:p>
            <a:r>
              <a:rPr lang="zh-CN" altLang="en-US" sz="3200">
                <a:solidFill>
                  <a:schemeClr val="tx1"/>
                </a:solidFill>
                <a:uFillTx/>
              </a:rPr>
              <a:t>线性分类：</a:t>
            </a:r>
            <a:endParaRPr lang="zh-CN" altLang="en-US" sz="3200">
              <a:solidFill>
                <a:schemeClr val="tx1"/>
              </a:solidFill>
              <a:uFillTx/>
            </a:endParaRPr>
          </a:p>
          <a:p>
            <a:pPr indent="457200"/>
            <a:r>
              <a:rPr lang="en-US" altLang="zh-CN" sz="3200">
                <a:solidFill>
                  <a:schemeClr val="tx1"/>
                </a:solidFill>
                <a:uFillTx/>
              </a:rPr>
              <a:t>1.KNN</a:t>
            </a:r>
            <a:endParaRPr lang="en-US" altLang="zh-CN" sz="3200">
              <a:solidFill>
                <a:schemeClr val="tx1"/>
              </a:solidFill>
              <a:uFillTx/>
            </a:endParaRPr>
          </a:p>
          <a:p>
            <a:pPr indent="457200"/>
            <a:r>
              <a:rPr lang="zh-CN" altLang="en-US" sz="3200">
                <a:solidFill>
                  <a:schemeClr val="tx1"/>
                </a:solidFill>
                <a:uFillTx/>
              </a:rPr>
              <a:t>首先需要知道计算机怎么存储数据，就是把</a:t>
            </a:r>
            <a:r>
              <a:rPr lang="zh-CN" altLang="en-US" sz="3200">
                <a:solidFill>
                  <a:schemeClr val="tx1"/>
                </a:solidFill>
                <a:uFillTx/>
              </a:rPr>
              <a:t>输入转为张量</a:t>
            </a:r>
            <a:r>
              <a:rPr lang="zh-CN" altLang="en-US" sz="3200">
                <a:solidFill>
                  <a:schemeClr val="tx1"/>
                </a:solidFill>
                <a:uFillTx/>
              </a:rPr>
              <a:t>的方式</a:t>
            </a:r>
            <a:endParaRPr lang="zh-CN" altLang="en-US" sz="3200">
              <a:solidFill>
                <a:schemeClr val="tx1"/>
              </a:solidFill>
              <a:uFillTx/>
            </a:endParaRPr>
          </a:p>
          <a:p>
            <a:pPr indent="457200"/>
            <a:r>
              <a:rPr lang="zh-CN" altLang="en-US" sz="3200">
                <a:solidFill>
                  <a:schemeClr val="tx1"/>
                </a:solidFill>
                <a:uFillTx/>
              </a:rPr>
              <a:t>输入又有文字和图片两种（视频和图片相似），其中文字通过</a:t>
            </a:r>
            <a:r>
              <a:rPr lang="en-US" altLang="zh-CN" sz="3200">
                <a:solidFill>
                  <a:schemeClr val="tx1"/>
                </a:solidFill>
                <a:uFillTx/>
              </a:rPr>
              <a:t>embedding</a:t>
            </a:r>
            <a:r>
              <a:rPr lang="zh-CN" altLang="en-US" sz="3200">
                <a:solidFill>
                  <a:schemeClr val="tx1"/>
                </a:solidFill>
                <a:uFillTx/>
              </a:rPr>
              <a:t>转化为向量，而图片则是通过每个像素点三颜色通道的具体数值转化为</a:t>
            </a:r>
            <a:r>
              <a:rPr lang="en-US" altLang="zh-CN" sz="3200">
                <a:solidFill>
                  <a:schemeClr val="tx1"/>
                </a:solidFill>
                <a:uFillTx/>
              </a:rPr>
              <a:t>tensor</a:t>
            </a:r>
            <a:endParaRPr lang="zh-CN" altLang="en-US" sz="3200">
              <a:solidFill>
                <a:schemeClr val="tx1"/>
              </a:solidFill>
              <a:uFillTx/>
            </a:endParaRPr>
          </a:p>
          <a:p>
            <a:pPr indent="457200"/>
            <a:r>
              <a:rPr lang="zh-CN" altLang="en-US" sz="3200">
                <a:solidFill>
                  <a:schemeClr val="tx1"/>
                </a:solidFill>
                <a:uFillTx/>
              </a:rPr>
              <a:t>然后</a:t>
            </a:r>
            <a:r>
              <a:rPr lang="en-US" altLang="zh-CN" sz="3200">
                <a:solidFill>
                  <a:schemeClr val="tx1"/>
                </a:solidFill>
                <a:uFillTx/>
              </a:rPr>
              <a:t>KNN</a:t>
            </a:r>
            <a:r>
              <a:rPr lang="zh-CN" altLang="en-US" sz="3200">
                <a:solidFill>
                  <a:schemeClr val="tx1"/>
                </a:solidFill>
                <a:uFillTx/>
              </a:rPr>
              <a:t>就是提前输入很多图片以及对应的</a:t>
            </a:r>
            <a:r>
              <a:rPr lang="zh-CN" altLang="en-US" sz="3200">
                <a:solidFill>
                  <a:schemeClr val="tx1"/>
                </a:solidFill>
                <a:uFillTx/>
              </a:rPr>
              <a:t>标签，然后找出距离最近的</a:t>
            </a:r>
            <a:r>
              <a:rPr lang="en-US" altLang="zh-CN" sz="3200">
                <a:solidFill>
                  <a:schemeClr val="tx1"/>
                </a:solidFill>
                <a:uFillTx/>
              </a:rPr>
              <a:t>k</a:t>
            </a:r>
            <a:r>
              <a:rPr lang="zh-CN" altLang="en-US" sz="3200">
                <a:solidFill>
                  <a:schemeClr val="tx1"/>
                </a:solidFill>
                <a:uFillTx/>
              </a:rPr>
              <a:t>个，根据这</a:t>
            </a:r>
            <a:r>
              <a:rPr lang="en-US" altLang="zh-CN" sz="3200">
                <a:solidFill>
                  <a:schemeClr val="tx1"/>
                </a:solidFill>
                <a:uFillTx/>
              </a:rPr>
              <a:t>k</a:t>
            </a:r>
            <a:r>
              <a:rPr lang="zh-CN" altLang="en-US" sz="3200">
                <a:solidFill>
                  <a:schemeClr val="tx1"/>
                </a:solidFill>
                <a:uFillTx/>
              </a:rPr>
              <a:t>个得到</a:t>
            </a:r>
            <a:r>
              <a:rPr lang="zh-CN" altLang="en-US" sz="3200">
                <a:solidFill>
                  <a:schemeClr val="tx1"/>
                </a:solidFill>
                <a:uFillTx/>
              </a:rPr>
              <a:t>结果</a:t>
            </a:r>
            <a:endParaRPr lang="zh-CN" altLang="en-US" sz="3200">
              <a:solidFill>
                <a:schemeClr val="tx1"/>
              </a:solidFill>
              <a:uFillTx/>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损失</a:t>
            </a:r>
            <a:endParaRPr lang="zh-CN" altLang="en-US"/>
          </a:p>
        </p:txBody>
      </p:sp>
      <p:sp>
        <p:nvSpPr>
          <p:cNvPr id="3" name="内容占位符 2"/>
          <p:cNvSpPr>
            <a:spLocks noGrp="1"/>
          </p:cNvSpPr>
          <p:nvPr>
            <p:ph idx="1"/>
          </p:nvPr>
        </p:nvSpPr>
        <p:spPr/>
        <p:txBody>
          <a:bodyPr/>
          <a:p>
            <a:pPr indent="457200"/>
            <a:r>
              <a:rPr lang="zh-CN" altLang="en-US">
                <a:uFillTx/>
                <a:sym typeface="+mn-ea"/>
              </a:rPr>
              <a:t>一个训练阶段的概念，用于评价矩阵参数的好坏</a:t>
            </a:r>
            <a:endParaRPr lang="zh-CN" altLang="en-US">
              <a:solidFill>
                <a:schemeClr val="tx1"/>
              </a:solidFill>
              <a:uFillTx/>
            </a:endParaRPr>
          </a:p>
          <a:p>
            <a:pPr indent="457200"/>
            <a:r>
              <a:rPr lang="en-US" altLang="zh-CN">
                <a:uFillTx/>
                <a:sym typeface="+mn-ea"/>
              </a:rPr>
              <a:t>- softmax</a:t>
            </a:r>
            <a:r>
              <a:rPr lang="zh-CN" altLang="en-US">
                <a:uFillTx/>
                <a:sym typeface="+mn-ea"/>
              </a:rPr>
              <a:t>：计算每个可能结果的概率，取指数，然后得到得出正确结果的概率，概率太低就是损失高，公式为</a:t>
            </a:r>
            <a:r>
              <a:rPr lang="en-US" altLang="zh-CN">
                <a:uFillTx/>
                <a:sym typeface="+mn-ea"/>
              </a:rPr>
              <a:t>-logp</a:t>
            </a:r>
            <a:endParaRPr lang="en-US" altLang="zh-CN">
              <a:solidFill>
                <a:schemeClr val="tx1"/>
              </a:solidFill>
              <a:uFillTx/>
            </a:endParaRPr>
          </a:p>
          <a:p>
            <a:pPr indent="457200"/>
            <a:r>
              <a:rPr lang="en-US" altLang="zh-CN">
                <a:uFillTx/>
                <a:sym typeface="+mn-ea"/>
              </a:rPr>
              <a:t>- SVM</a:t>
            </a:r>
            <a:r>
              <a:rPr lang="zh-CN" altLang="en-US">
                <a:uFillTx/>
                <a:sym typeface="+mn-ea"/>
              </a:rPr>
              <a:t>：只判断是或者不是，设置间隔值，然后计算得分，错误答案得分超过该值便会被计入损失</a:t>
            </a:r>
            <a:endParaRPr lang="zh-CN" altLang="en-US">
              <a:solidFill>
                <a:schemeClr val="tx1"/>
              </a:solidFill>
              <a:uFillTx/>
            </a:endParaRPr>
          </a:p>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984250" y="719455"/>
            <a:ext cx="10369550" cy="5457825"/>
          </a:xfrm>
        </p:spPr>
        <p:txBody>
          <a:bodyPr/>
          <a:p>
            <a:pPr marL="0" indent="0">
              <a:buNone/>
            </a:pPr>
            <a:r>
              <a:rPr lang="en-US" altLang="zh-CN"/>
              <a:t>- </a:t>
            </a:r>
            <a:r>
              <a:rPr lang="zh-CN" altLang="en-US"/>
              <a:t>正则</a:t>
            </a:r>
            <a:r>
              <a:rPr lang="zh-CN" altLang="en-US"/>
              <a:t>损失</a:t>
            </a:r>
            <a:endParaRPr lang="zh-CN" altLang="en-US"/>
          </a:p>
          <a:p>
            <a:pPr marL="0" indent="457200">
              <a:buNone/>
            </a:pPr>
            <a:r>
              <a:rPr lang="zh-CN" altLang="en-US"/>
              <a:t>这个是最终计算损失值时必须有的一项，而其存在的价值就是防止单个参数储存太多数据，确保信息均摊到参数身上，实现方法就是让平方和尽可能的小</a:t>
            </a:r>
            <a:endParaRPr lang="zh-CN" altLang="en-US"/>
          </a:p>
          <a:p>
            <a:pPr marL="0" indent="457200">
              <a:buNone/>
            </a:pPr>
            <a:r>
              <a:rPr lang="zh-CN" altLang="en-US"/>
              <a:t>至于单个参数储存太多数据，我的理解是，一个参数如果过大，其对最终结果的主导能力过强，就容易导致过拟合，而且由于神经网络固有的黑箱缺陷，我们很难知道导致最终计算结果的具体是哪些参数，而参数对结果影响又很大，这样就很不好</a:t>
            </a:r>
            <a:endParaRPr lang="zh-CN" altLang="en-US"/>
          </a:p>
          <a:p>
            <a:pPr marL="0" indent="457200">
              <a:buNone/>
            </a:pPr>
            <a:r>
              <a:rPr lang="zh-CN" altLang="en-US"/>
              <a:t>还有一种正则化是</a:t>
            </a:r>
            <a:r>
              <a:rPr lang="en-US" altLang="zh-CN"/>
              <a:t>dropout</a:t>
            </a:r>
            <a:r>
              <a:rPr lang="zh-CN" altLang="en-US"/>
              <a:t>，就是在训练过程中随机失活部分参数，这也是为了让信息均摊，防止</a:t>
            </a:r>
            <a:r>
              <a:rPr lang="zh-CN" altLang="en-US"/>
              <a:t>过拟合</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707390" y="572770"/>
            <a:ext cx="10515600" cy="3696335"/>
          </a:xfrm>
        </p:spPr>
        <p:txBody>
          <a:bodyPr>
            <a:normAutofit lnSpcReduction="20000"/>
          </a:bodyPr>
          <a:p>
            <a:pPr marL="0" indent="0">
              <a:buNone/>
            </a:pPr>
            <a:r>
              <a:rPr lang="en-US" altLang="zh-CN"/>
              <a:t>3. </a:t>
            </a:r>
            <a:r>
              <a:rPr lang="zh-CN" altLang="en-US"/>
              <a:t>反向传播</a:t>
            </a:r>
            <a:r>
              <a:rPr lang="zh-CN" altLang="en-US"/>
              <a:t>与优化</a:t>
            </a:r>
            <a:endParaRPr lang="zh-CN" altLang="en-US"/>
          </a:p>
          <a:p>
            <a:pPr marL="0" indent="457200">
              <a:buNone/>
            </a:pPr>
            <a:r>
              <a:rPr lang="zh-CN" altLang="en-US"/>
              <a:t>也是训练阶段，具体就是通过反向传播调整矩阵的参数，前面</a:t>
            </a:r>
            <a:endParaRPr lang="zh-CN" altLang="en-US"/>
          </a:p>
          <a:p>
            <a:pPr marL="0" indent="457200">
              <a:buNone/>
            </a:pPr>
            <a:r>
              <a:rPr lang="zh-CN" altLang="en-US"/>
              <a:t>通过损失我们知道结果好不好，如果不好，就看具体哪里不好，</a:t>
            </a:r>
            <a:endParaRPr lang="zh-CN" altLang="en-US"/>
          </a:p>
          <a:p>
            <a:pPr marL="0" indent="457200">
              <a:buNone/>
            </a:pPr>
            <a:r>
              <a:rPr lang="zh-CN" altLang="en-US"/>
              <a:t>然后求梯度，对矩阵</a:t>
            </a:r>
            <a:r>
              <a:rPr lang="en-US" altLang="zh-CN"/>
              <a:t>W</a:t>
            </a:r>
            <a:r>
              <a:rPr lang="zh-CN" altLang="en-US"/>
              <a:t>进行</a:t>
            </a:r>
            <a:r>
              <a:rPr lang="zh-CN" altLang="en-US"/>
              <a:t>调整</a:t>
            </a:r>
            <a:endParaRPr lang="zh-CN" altLang="en-US"/>
          </a:p>
          <a:p>
            <a:pPr marL="0" indent="457200">
              <a:buNone/>
            </a:pPr>
            <a:r>
              <a:rPr lang="zh-CN" altLang="en-US"/>
              <a:t>反向传播求梯度，我们需要的是</a:t>
            </a:r>
            <a:r>
              <a:rPr lang="en-US" altLang="zh-CN"/>
              <a:t>dw</a:t>
            </a:r>
            <a:r>
              <a:rPr lang="zh-CN" altLang="en-US"/>
              <a:t>，起初我对于矩阵的求导也</a:t>
            </a:r>
            <a:endParaRPr lang="zh-CN" altLang="en-US"/>
          </a:p>
          <a:p>
            <a:pPr marL="0" indent="457200">
              <a:buNone/>
            </a:pPr>
            <a:r>
              <a:rPr lang="zh-CN" altLang="en-US"/>
              <a:t>是很不理解，后来了解到，停留在应用层面的话其实只需要注</a:t>
            </a:r>
            <a:endParaRPr lang="zh-CN" altLang="en-US"/>
          </a:p>
          <a:p>
            <a:pPr marL="0" indent="457200">
              <a:buNone/>
            </a:pPr>
            <a:r>
              <a:rPr lang="zh-CN" altLang="en-US"/>
              <a:t>意矩阵长度对齐就可以</a:t>
            </a:r>
            <a:r>
              <a:rPr lang="zh-CN" altLang="en-US"/>
              <a:t>了</a:t>
            </a:r>
            <a:endParaRPr lang="zh-CN" altLang="en-US"/>
          </a:p>
          <a:p>
            <a:pPr marL="0" indent="457200">
              <a:buNone/>
            </a:pPr>
            <a:r>
              <a:rPr lang="zh-CN" altLang="en-US"/>
              <a:t>下面举个两层网络的例子（输出种类也是</a:t>
            </a:r>
            <a:r>
              <a:rPr lang="en-US" altLang="zh-CN"/>
              <a:t>2</a:t>
            </a:r>
            <a:r>
              <a:rPr lang="zh-CN" altLang="en-US"/>
              <a:t>，采用</a:t>
            </a:r>
            <a:r>
              <a:rPr lang="zh-CN" altLang="en-US"/>
              <a:t>折页损失）：</a:t>
            </a:r>
            <a:endParaRPr lang="zh-CN" altLang="en-US"/>
          </a:p>
          <a:p>
            <a:pPr marL="0" indent="457200">
              <a:buNone/>
            </a:pP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神经网络</a:t>
            </a:r>
            <a:endParaRPr lang="zh-CN" altLang="en-US"/>
          </a:p>
        </p:txBody>
      </p:sp>
      <p:sp>
        <p:nvSpPr>
          <p:cNvPr id="3" name="内容占位符 2"/>
          <p:cNvSpPr>
            <a:spLocks noGrp="1"/>
          </p:cNvSpPr>
          <p:nvPr>
            <p:ph idx="1"/>
          </p:nvPr>
        </p:nvSpPr>
        <p:spPr>
          <a:xfrm>
            <a:off x="838200" y="1825625"/>
            <a:ext cx="10515600" cy="1147445"/>
          </a:xfrm>
        </p:spPr>
        <p:txBody>
          <a:bodyPr/>
          <a:p>
            <a:r>
              <a:rPr lang="zh-CN" altLang="en-US"/>
              <a:t>神经网络就是很多个线性变化中间穿插激活函数，如此便可以做到拟合任意一个</a:t>
            </a:r>
            <a:r>
              <a:rPr lang="zh-CN" altLang="en-US"/>
              <a:t>函数</a:t>
            </a:r>
            <a:endParaRPr lang="zh-CN" altLang="en-US"/>
          </a:p>
        </p:txBody>
      </p:sp>
      <p:pic>
        <p:nvPicPr>
          <p:cNvPr id="5" name="图片 4"/>
          <p:cNvPicPr>
            <a:picLocks noChangeAspect="1"/>
          </p:cNvPicPr>
          <p:nvPr/>
        </p:nvPicPr>
        <p:blipFill>
          <a:blip r:embed="rId1"/>
          <a:stretch>
            <a:fillRect/>
          </a:stretch>
        </p:blipFill>
        <p:spPr>
          <a:xfrm>
            <a:off x="4856480" y="2456815"/>
            <a:ext cx="4533900" cy="4347845"/>
          </a:xfrm>
          <a:prstGeom prst="rect">
            <a:avLst/>
          </a:prstGeom>
        </p:spPr>
      </p:pic>
      <p:sp>
        <p:nvSpPr>
          <p:cNvPr id="6" name="文本框 5"/>
          <p:cNvSpPr txBox="1"/>
          <p:nvPr/>
        </p:nvSpPr>
        <p:spPr>
          <a:xfrm>
            <a:off x="931545" y="3632835"/>
            <a:ext cx="3787140" cy="1998980"/>
          </a:xfrm>
          <a:prstGeom prst="rect">
            <a:avLst/>
          </a:prstGeom>
          <a:noFill/>
        </p:spPr>
        <p:txBody>
          <a:bodyPr wrap="square" rtlCol="0">
            <a:noAutofit/>
          </a:bodyPr>
          <a:p>
            <a:r>
              <a:rPr lang="zh-CN" altLang="en-US" sz="2400">
                <a:solidFill>
                  <a:schemeClr val="tx1"/>
                </a:solidFill>
                <a:uFillTx/>
              </a:rPr>
              <a:t>右边是我目前接触到的几个激活函数</a:t>
            </a:r>
            <a:endParaRPr lang="zh-CN" altLang="en-US" sz="2400">
              <a:solidFill>
                <a:schemeClr val="tx1"/>
              </a:solidFill>
              <a:uFillTx/>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全连接网络</a:t>
            </a:r>
            <a:r>
              <a:rPr lang="zh-CN" altLang="en-US"/>
              <a:t>与多层感知</a:t>
            </a:r>
            <a:r>
              <a:rPr lang="zh-CN" altLang="en-US"/>
              <a:t>机（</a:t>
            </a:r>
            <a:r>
              <a:rPr lang="en-US" altLang="zh-CN"/>
              <a:t>MLP</a:t>
            </a:r>
            <a:r>
              <a:rPr lang="zh-CN" altLang="en-US"/>
              <a:t>）</a:t>
            </a:r>
            <a:endParaRPr lang="zh-CN" altLang="en-US"/>
          </a:p>
        </p:txBody>
      </p:sp>
      <p:sp>
        <p:nvSpPr>
          <p:cNvPr id="3" name="内容占位符 2"/>
          <p:cNvSpPr>
            <a:spLocks noGrp="1"/>
          </p:cNvSpPr>
          <p:nvPr>
            <p:ph idx="1"/>
          </p:nvPr>
        </p:nvSpPr>
        <p:spPr/>
        <p:txBody>
          <a:bodyPr/>
          <a:p>
            <a:r>
              <a:rPr lang="zh-CN" altLang="en-US"/>
              <a:t>全连接</a:t>
            </a:r>
            <a:r>
              <a:rPr lang="zh-CN" altLang="en-US"/>
              <a:t>网络就是一个最基础的</a:t>
            </a:r>
            <a:r>
              <a:rPr lang="zh-CN" altLang="en-US"/>
              <a:t>神经网络</a:t>
            </a:r>
            <a:endParaRPr lang="zh-CN" altLang="en-US"/>
          </a:p>
          <a:p>
            <a:endParaRPr lang="zh-CN" altLang="en-US"/>
          </a:p>
          <a:p>
            <a:r>
              <a:rPr lang="zh-CN" altLang="en-US"/>
              <a:t>然后就是处理偏置的时候我们通常在输入最后加个参数</a:t>
            </a:r>
            <a:r>
              <a:rPr lang="en-US" altLang="zh-CN"/>
              <a:t>1</a:t>
            </a:r>
            <a:r>
              <a:rPr lang="zh-CN" altLang="en-US"/>
              <a:t>，然后偏置向量接在权重矩阵的后面，以达到相同效果，但是在反向传播的时候是需要分开</a:t>
            </a:r>
            <a:r>
              <a:rPr lang="zh-CN" altLang="en-US"/>
              <a:t>处理的</a:t>
            </a:r>
            <a:endParaRPr lang="zh-CN" altLang="en-US"/>
          </a:p>
          <a:p>
            <a:endParaRPr lang="zh-CN" altLang="en-US"/>
          </a:p>
          <a:p>
            <a:r>
              <a:rPr lang="en-US" altLang="zh-CN"/>
              <a:t>MLP</a:t>
            </a:r>
            <a:r>
              <a:rPr lang="zh-CN" altLang="en-US"/>
              <a:t>：一种前馈</a:t>
            </a:r>
            <a:r>
              <a:rPr lang="zh-CN" altLang="en-US"/>
              <a:t>神经网络，</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卷积</a:t>
            </a:r>
            <a:r>
              <a:rPr lang="zh-CN" altLang="en-US"/>
              <a:t>神经网络</a:t>
            </a:r>
            <a:endParaRPr lang="zh-CN" altLang="en-US"/>
          </a:p>
        </p:txBody>
      </p:sp>
      <p:sp>
        <p:nvSpPr>
          <p:cNvPr id="3" name="内容占位符 2"/>
          <p:cNvSpPr>
            <a:spLocks noGrp="1"/>
          </p:cNvSpPr>
          <p:nvPr>
            <p:ph idx="1"/>
          </p:nvPr>
        </p:nvSpPr>
        <p:spPr>
          <a:xfrm>
            <a:off x="838200" y="1825625"/>
            <a:ext cx="10515600" cy="4803140"/>
          </a:xfrm>
        </p:spPr>
        <p:txBody>
          <a:bodyPr>
            <a:normAutofit lnSpcReduction="20000"/>
          </a:bodyPr>
          <a:p>
            <a:r>
              <a:rPr lang="zh-CN" altLang="en-US"/>
              <a:t>卷积核：深度与输入深度相同，输出层数取决于卷积核数量，然</a:t>
            </a:r>
            <a:endParaRPr lang="zh-CN" altLang="en-US"/>
          </a:p>
          <a:p>
            <a:r>
              <a:rPr lang="zh-CN" altLang="en-US"/>
              <a:t>后多个卷积核便于提取不同的</a:t>
            </a:r>
            <a:r>
              <a:rPr lang="zh-CN" altLang="en-US"/>
              <a:t>特征</a:t>
            </a:r>
            <a:endParaRPr lang="zh-CN" altLang="en-US"/>
          </a:p>
          <a:p>
            <a:endParaRPr lang="zh-CN" altLang="en-US"/>
          </a:p>
          <a:p>
            <a:r>
              <a:rPr lang="zh-CN" altLang="en-US"/>
              <a:t>计算：直接点积相加，外围不够大就补</a:t>
            </a:r>
            <a:r>
              <a:rPr lang="en-US" altLang="zh-CN"/>
              <a:t>0</a:t>
            </a:r>
            <a:endParaRPr lang="en-US" altLang="zh-CN"/>
          </a:p>
          <a:p>
            <a:endParaRPr lang="en-US" altLang="zh-CN"/>
          </a:p>
          <a:p>
            <a:r>
              <a:rPr lang="zh-CN" altLang="en-US"/>
              <a:t>池化：通常需要与池化配合，但是其实可以直接通过自行设置卷</a:t>
            </a:r>
            <a:endParaRPr lang="zh-CN" altLang="en-US"/>
          </a:p>
          <a:p>
            <a:r>
              <a:rPr lang="zh-CN" altLang="en-US"/>
              <a:t>积步长达到池化的</a:t>
            </a:r>
            <a:r>
              <a:rPr lang="zh-CN" altLang="en-US"/>
              <a:t>效果</a:t>
            </a:r>
            <a:endParaRPr lang="zh-CN" altLang="en-US"/>
          </a:p>
          <a:p>
            <a:endParaRPr lang="zh-CN" altLang="en-US"/>
          </a:p>
          <a:p>
            <a:r>
              <a:rPr lang="zh-CN" altLang="en-US"/>
              <a:t>理解：一般来说，浅层的卷积可以看清线条，而深层的擅长看形</a:t>
            </a:r>
            <a:endParaRPr lang="zh-CN" altLang="en-US"/>
          </a:p>
          <a:p>
            <a:r>
              <a:rPr lang="zh-CN" altLang="en-US"/>
              <a:t>状，虽然以数字存储数据有点抽象，但是综合来看倒也可以</a:t>
            </a:r>
            <a:r>
              <a:rPr lang="zh-CN" altLang="en-US"/>
              <a:t>理解</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0515600" cy="1325563"/>
          </a:xfrm>
        </p:spPr>
        <p:txBody>
          <a:bodyPr/>
          <a:p>
            <a:r>
              <a:rPr lang="zh-CN" altLang="en-US"/>
              <a:t>全卷积</a:t>
            </a:r>
            <a:r>
              <a:rPr lang="en-US" altLang="zh-CN"/>
              <a:t>FCN</a:t>
            </a:r>
            <a:endParaRPr lang="en-US" altLang="zh-CN"/>
          </a:p>
        </p:txBody>
      </p:sp>
      <p:sp>
        <p:nvSpPr>
          <p:cNvPr id="3" name="内容占位符 2"/>
          <p:cNvSpPr>
            <a:spLocks noGrp="1"/>
          </p:cNvSpPr>
          <p:nvPr>
            <p:ph idx="1"/>
          </p:nvPr>
        </p:nvSpPr>
        <p:spPr/>
        <p:txBody>
          <a:bodyPr/>
          <a:p>
            <a:pPr marL="0" indent="0">
              <a:buNone/>
            </a:pPr>
            <a:r>
              <a:rPr lang="en-US" altLang="zh-CN"/>
              <a:t> </a:t>
            </a:r>
            <a:r>
              <a:rPr lang="zh-CN" altLang="en-US"/>
              <a:t>如其名，就是全部采用卷积神经网络</a:t>
            </a:r>
            <a:endParaRPr lang="zh-CN" altLang="en-US"/>
          </a:p>
          <a:p>
            <a:pPr marL="0" indent="0">
              <a:buNone/>
            </a:pPr>
            <a:endParaRPr lang="zh-CN" altLang="en-US"/>
          </a:p>
          <a:p>
            <a:pPr marL="0" indent="457200">
              <a:buNone/>
            </a:pPr>
            <a:r>
              <a:rPr lang="zh-CN" altLang="en-US"/>
              <a:t>首先</a:t>
            </a:r>
            <a:endParaRPr lang="zh-CN" altLang="en-US"/>
          </a:p>
        </p:txBody>
      </p:sp>
      <p:pic>
        <p:nvPicPr>
          <p:cNvPr id="4" name="图片 3"/>
          <p:cNvPicPr/>
          <p:nvPr/>
        </p:nvPicPr>
        <p:blipFill>
          <a:blip r:embed="rId1"/>
          <a:stretch>
            <a:fillRect/>
          </a:stretch>
        </p:blipFill>
        <p:spPr>
          <a:xfrm>
            <a:off x="-2147483648" y="-2147483648"/>
            <a:ext cx="2147011200" cy="2147011200"/>
          </a:xfrm>
          <a:prstGeom prst="rect">
            <a:avLst/>
          </a:prstGeom>
        </p:spPr>
      </p:pic>
      <p:pic>
        <p:nvPicPr>
          <p:cNvPr id="6" name="图片 5"/>
          <p:cNvPicPr/>
          <p:nvPr/>
        </p:nvPicPr>
        <p:blipFill>
          <a:blip r:embed="rId1"/>
          <a:stretch>
            <a:fillRect/>
          </a:stretch>
        </p:blipFill>
        <p:spPr>
          <a:xfrm>
            <a:off x="-2147483648" y="-2147483648"/>
            <a:ext cx="2147011200" cy="2147011200"/>
          </a:xfrm>
          <a:prstGeom prst="rect">
            <a:avLst/>
          </a:prstGeom>
        </p:spPr>
      </p:pic>
      <p:pic>
        <p:nvPicPr>
          <p:cNvPr id="7" name="图片 6" descr="d6c8970ef4cd4ed998f7453ef254ad73"/>
          <p:cNvPicPr>
            <a:picLocks noChangeAspect="1"/>
          </p:cNvPicPr>
          <p:nvPr/>
        </p:nvPicPr>
        <p:blipFill>
          <a:blip r:embed="rId2"/>
          <a:stretch>
            <a:fillRect/>
          </a:stretch>
        </p:blipFill>
        <p:spPr>
          <a:xfrm>
            <a:off x="1339850" y="2592070"/>
            <a:ext cx="8020050" cy="1962150"/>
          </a:xfrm>
          <a:prstGeom prst="rect">
            <a:avLst/>
          </a:prstGeom>
        </p:spPr>
      </p:pic>
      <p:sp>
        <p:nvSpPr>
          <p:cNvPr id="8" name="文本框 7"/>
          <p:cNvSpPr txBox="1"/>
          <p:nvPr/>
        </p:nvSpPr>
        <p:spPr>
          <a:xfrm>
            <a:off x="1179830" y="4704080"/>
            <a:ext cx="7837805" cy="1001395"/>
          </a:xfrm>
          <a:prstGeom prst="rect">
            <a:avLst/>
          </a:prstGeom>
          <a:noFill/>
        </p:spPr>
        <p:txBody>
          <a:bodyPr wrap="square" rtlCol="0">
            <a:noAutofit/>
          </a:bodyPr>
          <a:p>
            <a:r>
              <a:rPr lang="zh-CN" altLang="en-US"/>
              <a:t>其中也是会有部分跳跃链接的内容，简而言之就是向下传播向上采样，最后得到得到原图每个像素点的分类（</a:t>
            </a:r>
            <a:r>
              <a:rPr lang="zh-CN" altLang="en-US"/>
              <a:t>热力图）</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循环神经网络（</a:t>
            </a:r>
            <a:r>
              <a:rPr lang="en-US" altLang="zh-CN"/>
              <a:t>RNN</a:t>
            </a:r>
            <a:r>
              <a:rPr lang="zh-CN" altLang="en-US"/>
              <a:t>）</a:t>
            </a:r>
            <a:endParaRPr lang="zh-CN" altLang="en-US"/>
          </a:p>
        </p:txBody>
      </p:sp>
      <p:sp>
        <p:nvSpPr>
          <p:cNvPr id="3" name="内容占位符 2"/>
          <p:cNvSpPr>
            <a:spLocks noGrp="1"/>
          </p:cNvSpPr>
          <p:nvPr>
            <p:ph idx="1"/>
          </p:nvPr>
        </p:nvSpPr>
        <p:spPr>
          <a:xfrm>
            <a:off x="838200" y="1825625"/>
            <a:ext cx="10515600" cy="2647315"/>
          </a:xfrm>
        </p:spPr>
        <p:txBody>
          <a:bodyPr/>
          <a:p>
            <a:pPr marL="0" indent="457200">
              <a:buNone/>
            </a:pPr>
            <a:r>
              <a:rPr lang="zh-CN" altLang="en-US"/>
              <a:t>感觉是</a:t>
            </a:r>
            <a:r>
              <a:rPr lang="en-US" altLang="zh-CN"/>
              <a:t>NLP</a:t>
            </a:r>
            <a:r>
              <a:rPr lang="zh-CN" altLang="en-US"/>
              <a:t>那边的，但是图形处理领域加上位置编码也可以用，所以</a:t>
            </a:r>
            <a:r>
              <a:rPr lang="zh-CN" altLang="en-US"/>
              <a:t>感觉两个领域感觉是</a:t>
            </a:r>
            <a:r>
              <a:rPr lang="zh-CN" altLang="en-US"/>
              <a:t>通的</a:t>
            </a:r>
            <a:endParaRPr lang="zh-CN" altLang="en-US"/>
          </a:p>
          <a:p>
            <a:pPr marL="0" indent="457200">
              <a:buNone/>
            </a:pPr>
            <a:endParaRPr lang="zh-CN" altLang="en-US"/>
          </a:p>
          <a:p>
            <a:pPr marL="0" indent="457200">
              <a:buNone/>
            </a:pPr>
            <a:r>
              <a:rPr lang="zh-CN" altLang="en-US"/>
              <a:t>引入一个隐藏状态</a:t>
            </a:r>
            <a:r>
              <a:rPr lang="en-US" altLang="zh-CN"/>
              <a:t>h</a:t>
            </a:r>
            <a:r>
              <a:rPr lang="zh-CN" altLang="en-US"/>
              <a:t>，按时间步一个</a:t>
            </a:r>
            <a:r>
              <a:rPr lang="en-US" altLang="zh-CN"/>
              <a:t>token</a:t>
            </a:r>
            <a:r>
              <a:rPr lang="zh-CN" altLang="en-US"/>
              <a:t>一个</a:t>
            </a:r>
            <a:r>
              <a:rPr lang="en-US" altLang="zh-CN"/>
              <a:t>token</a:t>
            </a:r>
            <a:r>
              <a:rPr lang="zh-CN" altLang="en-US"/>
              <a:t>的进行</a:t>
            </a:r>
            <a:r>
              <a:rPr lang="zh-CN" altLang="en-US"/>
              <a:t>处理</a:t>
            </a:r>
            <a:endParaRPr lang="zh-CN" altLang="en-US"/>
          </a:p>
          <a:p>
            <a:pPr marL="0" indent="0">
              <a:buNone/>
            </a:pPr>
            <a:r>
              <a:rPr lang="zh-CN" altLang="en-US"/>
              <a:t>每次输入隐藏状态会如此更新，然后再根据这个得到</a:t>
            </a:r>
            <a:r>
              <a:rPr lang="zh-CN" altLang="en-US"/>
              <a:t>输出</a:t>
            </a:r>
            <a:endParaRPr lang="zh-CN" altLang="en-US"/>
          </a:p>
          <a:p>
            <a:pPr marL="0" indent="0">
              <a:buNone/>
            </a:pPr>
            <a:endParaRPr lang="zh-CN" altLang="en-US"/>
          </a:p>
        </p:txBody>
      </p:sp>
      <p:pic>
        <p:nvPicPr>
          <p:cNvPr id="5" name="图片 4" descr="屏幕截图 2026-02-22 171234"/>
          <p:cNvPicPr>
            <a:picLocks noChangeAspect="1"/>
          </p:cNvPicPr>
          <p:nvPr/>
        </p:nvPicPr>
        <p:blipFill>
          <a:blip r:embed="rId1"/>
          <a:stretch>
            <a:fillRect/>
          </a:stretch>
        </p:blipFill>
        <p:spPr>
          <a:xfrm>
            <a:off x="2766060" y="4312920"/>
            <a:ext cx="6101080" cy="762635"/>
          </a:xfrm>
          <a:prstGeom prst="rect">
            <a:avLst/>
          </a:prstGeom>
        </p:spPr>
      </p:pic>
      <p:sp>
        <p:nvSpPr>
          <p:cNvPr id="6" name="文本框 5"/>
          <p:cNvSpPr txBox="1"/>
          <p:nvPr/>
        </p:nvSpPr>
        <p:spPr>
          <a:xfrm>
            <a:off x="931545" y="5424170"/>
            <a:ext cx="6816090" cy="862965"/>
          </a:xfrm>
          <a:prstGeom prst="rect">
            <a:avLst/>
          </a:prstGeom>
          <a:noFill/>
        </p:spPr>
        <p:txBody>
          <a:bodyPr wrap="square" rtlCol="0">
            <a:noAutofit/>
          </a:bodyPr>
          <a:p>
            <a:r>
              <a:rPr lang="zh-CN" altLang="en-US" sz="2400">
                <a:solidFill>
                  <a:schemeClr val="tx1"/>
                </a:solidFill>
                <a:uFillTx/>
              </a:rPr>
              <a:t>需要注意这个右边中括号是竖着拼接</a:t>
            </a:r>
            <a:endParaRPr lang="zh-CN" altLang="en-US" sz="2400">
              <a:solidFill>
                <a:schemeClr val="tx1"/>
              </a:solidFill>
              <a:uFillTx/>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长短期记忆</a:t>
            </a:r>
            <a:r>
              <a:rPr lang="en-US" altLang="zh-CN"/>
              <a:t>LSTM</a:t>
            </a:r>
            <a:endParaRPr lang="en-US" altLang="zh-CN"/>
          </a:p>
        </p:txBody>
      </p:sp>
      <p:pic>
        <p:nvPicPr>
          <p:cNvPr id="4" name="内容占位符 3"/>
          <p:cNvPicPr>
            <a:picLocks noChangeAspect="1"/>
          </p:cNvPicPr>
          <p:nvPr>
            <p:ph idx="1"/>
          </p:nvPr>
        </p:nvPicPr>
        <p:blipFill>
          <a:blip r:embed="rId1"/>
          <a:stretch>
            <a:fillRect/>
          </a:stretch>
        </p:blipFill>
        <p:spPr>
          <a:xfrm>
            <a:off x="659130" y="1690370"/>
            <a:ext cx="5993765" cy="2870200"/>
          </a:xfrm>
          <a:prstGeom prst="rect">
            <a:avLst/>
          </a:prstGeom>
        </p:spPr>
      </p:pic>
      <p:sp>
        <p:nvSpPr>
          <p:cNvPr id="5" name="文本框 4"/>
          <p:cNvSpPr txBox="1"/>
          <p:nvPr/>
        </p:nvSpPr>
        <p:spPr>
          <a:xfrm>
            <a:off x="6962140" y="1690370"/>
            <a:ext cx="5229860" cy="3343910"/>
          </a:xfrm>
          <a:prstGeom prst="rect">
            <a:avLst/>
          </a:prstGeom>
          <a:noFill/>
        </p:spPr>
        <p:txBody>
          <a:bodyPr wrap="square" rtlCol="0">
            <a:noAutofit/>
          </a:bodyPr>
          <a:p>
            <a:r>
              <a:rPr lang="zh-CN" altLang="en-US"/>
              <a:t>遗忘门</a:t>
            </a:r>
            <a:r>
              <a:rPr lang="en-US" altLang="zh-CN"/>
              <a:t>f</a:t>
            </a:r>
            <a:r>
              <a:rPr lang="zh-CN" altLang="en-US"/>
              <a:t>作用于细胞状态，取决于输入与上一层隐藏状态（显然，什么该遗忘一定程度上是取决于你这次的输入的，比如你换个主语）</a:t>
            </a:r>
            <a:endParaRPr lang="zh-CN" altLang="en-US"/>
          </a:p>
          <a:p>
            <a:endParaRPr lang="zh-CN" altLang="en-US"/>
          </a:p>
          <a:p>
            <a:r>
              <a:rPr lang="zh-CN" altLang="en-US"/>
              <a:t>输入门</a:t>
            </a:r>
            <a:r>
              <a:rPr lang="en-US" altLang="zh-CN"/>
              <a:t>o</a:t>
            </a:r>
            <a:r>
              <a:rPr lang="zh-CN" altLang="en-US"/>
              <a:t>，作用于细胞状态，同样取决于</a:t>
            </a:r>
            <a:r>
              <a:rPr lang="en-US" altLang="zh-CN"/>
              <a:t>x</a:t>
            </a:r>
            <a:r>
              <a:rPr lang="zh-CN" altLang="en-US"/>
              <a:t>和</a:t>
            </a:r>
            <a:r>
              <a:rPr lang="en-US" altLang="zh-CN"/>
              <a:t>h</a:t>
            </a:r>
            <a:endParaRPr lang="en-US" altLang="zh-CN"/>
          </a:p>
          <a:p>
            <a:endParaRPr lang="en-US" altLang="zh-CN"/>
          </a:p>
          <a:p>
            <a:r>
              <a:rPr lang="zh-CN" altLang="en-US"/>
              <a:t>输出们</a:t>
            </a:r>
            <a:r>
              <a:rPr lang="en-US" altLang="zh-CN"/>
              <a:t>o</a:t>
            </a:r>
            <a:r>
              <a:rPr lang="zh-CN" altLang="en-US"/>
              <a:t>，作用于本时间步中修改过的细胞状态（作用前海选哟</a:t>
            </a:r>
            <a:r>
              <a:rPr lang="en-US" altLang="zh-CN"/>
              <a:t>tanh</a:t>
            </a:r>
            <a:r>
              <a:rPr lang="zh-CN" altLang="en-US"/>
              <a:t>激活一下），然后可以得到下一层的隐藏状态，同时本层的隐藏状态经过一层普通映射可以得到本时间步的输出</a:t>
            </a:r>
            <a:endParaRPr lang="zh-CN" altLang="en-US"/>
          </a:p>
        </p:txBody>
      </p:sp>
      <p:pic>
        <p:nvPicPr>
          <p:cNvPr id="7" name="图片 6"/>
          <p:cNvPicPr>
            <a:picLocks noChangeAspect="1"/>
          </p:cNvPicPr>
          <p:nvPr/>
        </p:nvPicPr>
        <p:blipFill>
          <a:blip r:embed="rId2"/>
          <a:stretch>
            <a:fillRect/>
          </a:stretch>
        </p:blipFill>
        <p:spPr>
          <a:xfrm>
            <a:off x="2936875" y="4690745"/>
            <a:ext cx="6496050" cy="15906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门控循环单元</a:t>
            </a:r>
            <a:r>
              <a:rPr lang="en-US" altLang="zh-CN"/>
              <a:t>GRU</a:t>
            </a:r>
            <a:endParaRPr lang="en-US" altLang="zh-CN"/>
          </a:p>
        </p:txBody>
      </p:sp>
      <p:pic>
        <p:nvPicPr>
          <p:cNvPr id="7" name="内容占位符 6"/>
          <p:cNvPicPr>
            <a:picLocks noChangeAspect="1"/>
          </p:cNvPicPr>
          <p:nvPr>
            <p:ph idx="1"/>
          </p:nvPr>
        </p:nvPicPr>
        <p:blipFill>
          <a:blip r:embed="rId1"/>
          <a:stretch>
            <a:fillRect/>
          </a:stretch>
        </p:blipFill>
        <p:spPr>
          <a:xfrm>
            <a:off x="6096000" y="1691005"/>
            <a:ext cx="5885180" cy="2475230"/>
          </a:xfrm>
          <a:prstGeom prst="rect">
            <a:avLst/>
          </a:prstGeom>
        </p:spPr>
      </p:pic>
      <p:pic>
        <p:nvPicPr>
          <p:cNvPr id="6" name="图片 5"/>
          <p:cNvPicPr/>
          <p:nvPr/>
        </p:nvPicPr>
        <p:blipFill>
          <a:blip r:embed="rId2"/>
          <a:stretch>
            <a:fillRect/>
          </a:stretch>
        </p:blipFill>
        <p:spPr>
          <a:xfrm>
            <a:off x="360680" y="1531620"/>
            <a:ext cx="5735320" cy="3141345"/>
          </a:xfrm>
          <a:prstGeom prst="rect">
            <a:avLst/>
          </a:prstGeom>
        </p:spPr>
      </p:pic>
      <p:sp>
        <p:nvSpPr>
          <p:cNvPr id="8" name="文本框 7"/>
          <p:cNvSpPr txBox="1"/>
          <p:nvPr/>
        </p:nvSpPr>
        <p:spPr>
          <a:xfrm>
            <a:off x="631190" y="4948555"/>
            <a:ext cx="8527415" cy="1407160"/>
          </a:xfrm>
          <a:prstGeom prst="rect">
            <a:avLst/>
          </a:prstGeom>
          <a:noFill/>
        </p:spPr>
        <p:txBody>
          <a:bodyPr wrap="square" rtlCol="0">
            <a:noAutofit/>
          </a:bodyPr>
          <a:p>
            <a:pPr indent="457200"/>
            <a:r>
              <a:rPr lang="zh-CN" altLang="en-US"/>
              <a:t>有一个重置门一个更新们，然后那个符号是逐元素相乘，两个门都是由本时间步输入和上一次隐藏状态</a:t>
            </a:r>
            <a:r>
              <a:rPr lang="zh-CN" altLang="en-US"/>
              <a:t>得到</a:t>
            </a:r>
            <a:endParaRPr lang="zh-CN" altLang="en-US"/>
          </a:p>
          <a:p>
            <a:pPr indent="457200"/>
            <a:r>
              <a:rPr lang="zh-CN" altLang="en-US"/>
              <a:t>重置门用于重置上一次的隐藏状态便于得到本轮候选隐藏</a:t>
            </a:r>
            <a:r>
              <a:rPr lang="zh-CN" altLang="en-US"/>
              <a:t>状态</a:t>
            </a:r>
            <a:endParaRPr lang="zh-CN" altLang="en-US"/>
          </a:p>
          <a:p>
            <a:pPr indent="457200"/>
            <a:r>
              <a:rPr lang="zh-CN" altLang="en-US"/>
              <a:t>更新门</a:t>
            </a:r>
            <a:r>
              <a:rPr lang="zh-CN" altLang="en-US"/>
              <a:t>则是处理候选隐藏状态与上层隐藏状态得到本轮隐藏状态</a:t>
            </a:r>
            <a:r>
              <a:rPr lang="zh-CN" altLang="en-US"/>
              <a:t>用</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循环神经网络</a:t>
            </a:r>
            <a:r>
              <a:rPr lang="zh-CN" altLang="en-US"/>
              <a:t>比较</a:t>
            </a:r>
            <a:endParaRPr lang="zh-CN" altLang="en-US"/>
          </a:p>
        </p:txBody>
      </p:sp>
      <p:sp>
        <p:nvSpPr>
          <p:cNvPr id="3" name="内容占位符 2"/>
          <p:cNvSpPr>
            <a:spLocks noGrp="1"/>
          </p:cNvSpPr>
          <p:nvPr>
            <p:ph idx="1"/>
          </p:nvPr>
        </p:nvSpPr>
        <p:spPr>
          <a:xfrm>
            <a:off x="838200" y="1825625"/>
            <a:ext cx="10515600" cy="3533775"/>
          </a:xfrm>
        </p:spPr>
        <p:txBody>
          <a:bodyPr>
            <a:normAutofit lnSpcReduction="10000"/>
          </a:bodyPr>
          <a:p>
            <a:r>
              <a:rPr lang="zh-CN" altLang="en-US"/>
              <a:t>普通</a:t>
            </a:r>
            <a:r>
              <a:rPr lang="en-US" altLang="zh-CN"/>
              <a:t>RNN</a:t>
            </a:r>
            <a:r>
              <a:rPr lang="zh-CN" altLang="en-US"/>
              <a:t>：难以保留较久远的记忆，且梯度易消失或</a:t>
            </a:r>
            <a:r>
              <a:rPr lang="zh-CN" altLang="en-US"/>
              <a:t>爆炸</a:t>
            </a:r>
            <a:endParaRPr lang="zh-CN" altLang="en-US"/>
          </a:p>
          <a:p>
            <a:endParaRPr lang="zh-CN" altLang="en-US"/>
          </a:p>
          <a:p>
            <a:r>
              <a:rPr lang="en-US" altLang="zh-CN"/>
              <a:t>LSTM</a:t>
            </a:r>
            <a:r>
              <a:rPr lang="zh-CN" altLang="en-US"/>
              <a:t>：有了长期依赖能力，但是计算量</a:t>
            </a:r>
            <a:r>
              <a:rPr lang="zh-CN" altLang="en-US"/>
              <a:t>大</a:t>
            </a:r>
            <a:endParaRPr lang="zh-CN" altLang="en-US"/>
          </a:p>
          <a:p>
            <a:endParaRPr lang="zh-CN" altLang="en-US"/>
          </a:p>
          <a:p>
            <a:r>
              <a:rPr lang="en-US" altLang="zh-CN"/>
              <a:t>GRU</a:t>
            </a:r>
            <a:r>
              <a:rPr lang="zh-CN" altLang="en-US"/>
              <a:t>：在</a:t>
            </a:r>
            <a:r>
              <a:rPr lang="en-US" altLang="zh-CN"/>
              <a:t>LSTM</a:t>
            </a:r>
            <a:r>
              <a:rPr lang="zh-CN" altLang="en-US"/>
              <a:t>的基础上简化了</a:t>
            </a:r>
            <a:r>
              <a:rPr lang="zh-CN" altLang="en-US"/>
              <a:t>计算</a:t>
            </a:r>
            <a:endParaRPr lang="zh-CN" altLang="en-US"/>
          </a:p>
          <a:p>
            <a:endParaRPr lang="zh-CN" altLang="en-US"/>
          </a:p>
          <a:p>
            <a:pPr marL="0" indent="0">
              <a:buNone/>
            </a:pPr>
            <a:r>
              <a:rPr lang="zh-CN" altLang="en-US"/>
              <a:t>缓解梯度问题的关键如下（因为建立了一条更简单线性的</a:t>
            </a:r>
            <a:r>
              <a:rPr lang="zh-CN" altLang="en-US"/>
              <a:t>通路）：</a:t>
            </a:r>
            <a:endParaRPr lang="zh-CN" altLang="en-US"/>
          </a:p>
          <a:p>
            <a:endParaRPr lang="zh-CN" altLang="en-US"/>
          </a:p>
        </p:txBody>
      </p:sp>
      <p:pic>
        <p:nvPicPr>
          <p:cNvPr id="5" name="图片 4"/>
          <p:cNvPicPr>
            <a:picLocks noChangeAspect="1"/>
          </p:cNvPicPr>
          <p:nvPr/>
        </p:nvPicPr>
        <p:blipFill>
          <a:blip r:embed="rId1"/>
          <a:stretch>
            <a:fillRect/>
          </a:stretch>
        </p:blipFill>
        <p:spPr>
          <a:xfrm>
            <a:off x="3778250" y="5138420"/>
            <a:ext cx="3876040" cy="558800"/>
          </a:xfrm>
          <a:prstGeom prst="rect">
            <a:avLst/>
          </a:prstGeom>
        </p:spPr>
      </p:pic>
      <p:pic>
        <p:nvPicPr>
          <p:cNvPr id="6" name="图片 5"/>
          <p:cNvPicPr>
            <a:picLocks noChangeAspect="1"/>
          </p:cNvPicPr>
          <p:nvPr/>
        </p:nvPicPr>
        <p:blipFill>
          <a:blip r:embed="rId2"/>
          <a:stretch>
            <a:fillRect/>
          </a:stretch>
        </p:blipFill>
        <p:spPr>
          <a:xfrm>
            <a:off x="3911600" y="5798185"/>
            <a:ext cx="3829050" cy="4762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Alexnet</a:t>
            </a:r>
            <a:endParaRPr lang="en-US" altLang="zh-CN"/>
          </a:p>
        </p:txBody>
      </p:sp>
      <p:sp>
        <p:nvSpPr>
          <p:cNvPr id="3" name="内容占位符 2"/>
          <p:cNvSpPr>
            <a:spLocks noGrp="1"/>
          </p:cNvSpPr>
          <p:nvPr>
            <p:ph idx="1"/>
          </p:nvPr>
        </p:nvSpPr>
        <p:spPr/>
        <p:txBody>
          <a:bodyPr/>
          <a:p>
            <a:r>
              <a:rPr lang="zh-CN" altLang="en-US"/>
              <a:t>现在很少用了，但是说几个当时的</a:t>
            </a:r>
            <a:r>
              <a:rPr lang="zh-CN" altLang="en-US"/>
              <a:t>创举：</a:t>
            </a:r>
            <a:endParaRPr lang="zh-CN" altLang="en-US"/>
          </a:p>
          <a:p>
            <a:endParaRPr lang="zh-CN" altLang="en-US"/>
          </a:p>
          <a:p>
            <a:r>
              <a:rPr lang="zh-CN" altLang="en-US"/>
              <a:t>首次使出</a:t>
            </a:r>
            <a:r>
              <a:rPr lang="en-US" altLang="zh-CN"/>
              <a:t>Relu</a:t>
            </a:r>
            <a:r>
              <a:rPr lang="zh-CN" altLang="en-US"/>
              <a:t>激活函数</a:t>
            </a:r>
            <a:endParaRPr lang="zh-CN" altLang="en-US"/>
          </a:p>
          <a:p>
            <a:r>
              <a:rPr lang="zh-CN" altLang="en-US"/>
              <a:t>首次采用</a:t>
            </a:r>
            <a:r>
              <a:rPr lang="en-US" altLang="zh-CN"/>
              <a:t>dropout</a:t>
            </a:r>
            <a:r>
              <a:rPr lang="zh-CN" altLang="en-US"/>
              <a:t>随机失活部分神经元，防止过拟合</a:t>
            </a:r>
            <a:endParaRPr lang="zh-CN" altLang="en-US"/>
          </a:p>
          <a:p>
            <a:r>
              <a:rPr lang="zh-CN" altLang="en-US"/>
              <a:t>重叠池化，就是</a:t>
            </a:r>
            <a:r>
              <a:rPr lang="en-US" altLang="zh-CN"/>
              <a:t>3*3</a:t>
            </a:r>
            <a:r>
              <a:rPr lang="zh-CN" altLang="en-US"/>
              <a:t>的核但是步长是</a:t>
            </a:r>
            <a:r>
              <a:rPr lang="en-US" altLang="zh-CN"/>
              <a:t>2</a:t>
            </a:r>
            <a:r>
              <a:rPr lang="zh-CN" altLang="en-US"/>
              <a:t>。</a:t>
            </a:r>
            <a:endParaRPr lang="zh-CN" altLang="en-US"/>
          </a:p>
          <a:p>
            <a:r>
              <a:rPr lang="zh-CN" altLang="en-US"/>
              <a:t>数据增强，防止过拟合（用一张训练图通过随机变换生成很多看起来不一样但标签不变的样本，避免模型死记训练集细节，、学到更稳定的特征）</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VGG</a:t>
            </a:r>
            <a:endParaRPr lang="en-US" altLang="zh-CN"/>
          </a:p>
        </p:txBody>
      </p:sp>
      <p:sp>
        <p:nvSpPr>
          <p:cNvPr id="3" name="内容占位符 2"/>
          <p:cNvSpPr>
            <a:spLocks noGrp="1"/>
          </p:cNvSpPr>
          <p:nvPr>
            <p:ph idx="1"/>
          </p:nvPr>
        </p:nvSpPr>
        <p:spPr/>
        <p:txBody>
          <a:bodyPr/>
          <a:p>
            <a:r>
              <a:rPr lang="zh-CN" altLang="en-US"/>
              <a:t>特点：整齐，只用到了</a:t>
            </a:r>
            <a:r>
              <a:rPr lang="en-US" altLang="zh-CN"/>
              <a:t>3*3</a:t>
            </a:r>
            <a:r>
              <a:rPr lang="zh-CN" altLang="en-US"/>
              <a:t>卷积与</a:t>
            </a:r>
            <a:r>
              <a:rPr lang="en-US" altLang="zh-CN"/>
              <a:t>2*2max</a:t>
            </a:r>
            <a:r>
              <a:rPr lang="zh-CN" altLang="en-US"/>
              <a:t>池化</a:t>
            </a:r>
            <a:endParaRPr lang="zh-CN" altLang="en-US"/>
          </a:p>
          <a:p>
            <a:endParaRPr lang="zh-CN" altLang="en-US"/>
          </a:p>
          <a:p>
            <a:r>
              <a:rPr lang="zh-CN" altLang="en-US"/>
              <a:t>总结：经典特征提取</a:t>
            </a:r>
            <a:r>
              <a:rPr lang="en-US" altLang="zh-CN"/>
              <a:t>backbone</a:t>
            </a:r>
            <a:r>
              <a:rPr lang="zh-CN" altLang="en-US"/>
              <a:t>，但是计算量不低而且深了</a:t>
            </a:r>
            <a:r>
              <a:rPr lang="zh-CN" altLang="en-US"/>
              <a:t>会出问题</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Resnet</a:t>
            </a:r>
            <a:endParaRPr lang="en-US" altLang="zh-CN"/>
          </a:p>
        </p:txBody>
      </p:sp>
      <p:sp>
        <p:nvSpPr>
          <p:cNvPr id="3" name="内容占位符 2"/>
          <p:cNvSpPr>
            <a:spLocks noGrp="1"/>
          </p:cNvSpPr>
          <p:nvPr>
            <p:ph idx="1"/>
          </p:nvPr>
        </p:nvSpPr>
        <p:spPr/>
        <p:txBody>
          <a:bodyPr/>
          <a:p>
            <a:r>
              <a:rPr lang="zh-CN" altLang="en-US"/>
              <a:t>首次提出跳跃链接解决深层网络特征消失问题，连接方法</a:t>
            </a:r>
            <a:r>
              <a:rPr lang="zh-CN" altLang="en-US"/>
              <a:t>如下：</a:t>
            </a:r>
            <a:endParaRPr lang="zh-CN" altLang="en-US"/>
          </a:p>
          <a:p>
            <a:endParaRPr lang="zh-CN" altLang="en-US"/>
          </a:p>
          <a:p>
            <a:r>
              <a:rPr lang="zh-CN" altLang="en-US"/>
              <a:t>相同维度：直接每个元素相加</a:t>
            </a:r>
            <a:endParaRPr lang="zh-CN" altLang="en-US"/>
          </a:p>
          <a:p>
            <a:r>
              <a:rPr lang="zh-CN" altLang="en-US"/>
              <a:t>不同维度：</a:t>
            </a:r>
            <a:endParaRPr lang="zh-CN" altLang="en-US"/>
          </a:p>
          <a:p>
            <a:r>
              <a:rPr lang="zh-CN" altLang="en-US"/>
              <a:t>深度不同：把原图进行</a:t>
            </a:r>
            <a:r>
              <a:rPr lang="en-US" altLang="zh-CN"/>
              <a:t>1*1</a:t>
            </a:r>
            <a:r>
              <a:rPr lang="zh-CN" altLang="en-US"/>
              <a:t>卷积操作，数量取决于想要的深度（有个补</a:t>
            </a:r>
            <a:r>
              <a:rPr lang="en-US" altLang="zh-CN"/>
              <a:t>0</a:t>
            </a:r>
            <a:r>
              <a:rPr lang="zh-CN" altLang="en-US"/>
              <a:t>的方法，但是效果似乎不是很好）</a:t>
            </a:r>
            <a:endParaRPr lang="zh-CN" altLang="en-US"/>
          </a:p>
          <a:p>
            <a:r>
              <a:rPr lang="en-US" altLang="zh-CN"/>
              <a:t>H</a:t>
            </a:r>
            <a:r>
              <a:rPr lang="zh-CN" altLang="en-US"/>
              <a:t>和</a:t>
            </a:r>
            <a:r>
              <a:rPr lang="en-US" altLang="zh-CN"/>
              <a:t>W</a:t>
            </a:r>
            <a:r>
              <a:rPr lang="zh-CN" altLang="en-US"/>
              <a:t>不同：同样通过卷积或者池化化成相同的就可以了</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GoogleNet</a:t>
            </a:r>
            <a:endParaRPr lang="en-US" altLang="zh-CN"/>
          </a:p>
        </p:txBody>
      </p:sp>
      <p:pic>
        <p:nvPicPr>
          <p:cNvPr id="7" name="内容占位符 6"/>
          <p:cNvPicPr>
            <a:picLocks noChangeAspect="1"/>
          </p:cNvPicPr>
          <p:nvPr>
            <p:ph idx="1"/>
          </p:nvPr>
        </p:nvPicPr>
        <p:blipFill>
          <a:blip r:embed="rId1"/>
          <a:stretch>
            <a:fillRect/>
          </a:stretch>
        </p:blipFill>
        <p:spPr>
          <a:xfrm>
            <a:off x="701675" y="1345565"/>
            <a:ext cx="9874250" cy="49491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attention</a:t>
            </a:r>
            <a:endParaRPr lang="en-US" altLang="zh-CN"/>
          </a:p>
        </p:txBody>
      </p:sp>
      <p:pic>
        <p:nvPicPr>
          <p:cNvPr id="4" name="内容占位符 3"/>
          <p:cNvPicPr>
            <a:picLocks noChangeAspect="1"/>
          </p:cNvPicPr>
          <p:nvPr>
            <p:ph idx="1"/>
          </p:nvPr>
        </p:nvPicPr>
        <p:blipFill>
          <a:blip r:embed="rId1"/>
          <a:stretch>
            <a:fillRect/>
          </a:stretch>
        </p:blipFill>
        <p:spPr>
          <a:xfrm>
            <a:off x="673735" y="1419225"/>
            <a:ext cx="9860915" cy="50323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81405" y="4943475"/>
            <a:ext cx="10515600" cy="1593850"/>
          </a:xfrm>
        </p:spPr>
        <p:txBody>
          <a:bodyPr/>
          <a:p>
            <a:r>
              <a:rPr lang="zh-CN" altLang="en-US" sz="2000">
                <a:solidFill>
                  <a:schemeClr val="tx1"/>
                </a:solidFill>
                <a:uFillTx/>
              </a:rPr>
              <a:t>对</a:t>
            </a:r>
            <a:r>
              <a:rPr lang="en-US" altLang="zh-CN" sz="2000">
                <a:solidFill>
                  <a:schemeClr val="tx1"/>
                </a:solidFill>
                <a:uFillTx/>
              </a:rPr>
              <a:t>QKV</a:t>
            </a:r>
            <a:r>
              <a:rPr lang="zh-CN" altLang="en-US" sz="2000">
                <a:solidFill>
                  <a:schemeClr val="tx1"/>
                </a:solidFill>
                <a:uFillTx/>
              </a:rPr>
              <a:t>的理解，这个图展示的很清楚，</a:t>
            </a:r>
            <a:r>
              <a:rPr lang="en-US" altLang="zh-CN" sz="2000">
                <a:solidFill>
                  <a:schemeClr val="tx1"/>
                </a:solidFill>
                <a:uFillTx/>
              </a:rPr>
              <a:t>QK^T</a:t>
            </a:r>
            <a:r>
              <a:rPr lang="zh-CN" altLang="en-US" sz="2000">
                <a:solidFill>
                  <a:schemeClr val="tx1"/>
                </a:solidFill>
                <a:uFillTx/>
              </a:rPr>
              <a:t>得到权重，</a:t>
            </a:r>
            <a:r>
              <a:rPr lang="en-US" altLang="zh-CN" sz="2000">
                <a:solidFill>
                  <a:schemeClr val="tx1"/>
                </a:solidFill>
                <a:uFillTx/>
              </a:rPr>
              <a:t>V</a:t>
            </a:r>
            <a:r>
              <a:rPr lang="zh-CN" altLang="en-US" sz="2000">
                <a:solidFill>
                  <a:schemeClr val="tx1"/>
                </a:solidFill>
                <a:uFillTx/>
              </a:rPr>
              <a:t>则是这个</a:t>
            </a:r>
            <a:r>
              <a:rPr lang="en-US" altLang="zh-CN" sz="2000">
                <a:solidFill>
                  <a:schemeClr val="tx1"/>
                </a:solidFill>
                <a:uFillTx/>
              </a:rPr>
              <a:t>token</a:t>
            </a:r>
            <a:r>
              <a:rPr lang="zh-CN" altLang="en-US" sz="2000">
                <a:solidFill>
                  <a:schemeClr val="tx1"/>
                </a:solidFill>
                <a:uFillTx/>
              </a:rPr>
              <a:t>的含义，如此将这个句子中每个</a:t>
            </a:r>
            <a:r>
              <a:rPr lang="en-US" altLang="zh-CN" sz="2000">
                <a:solidFill>
                  <a:schemeClr val="tx1"/>
                </a:solidFill>
                <a:uFillTx/>
              </a:rPr>
              <a:t>token</a:t>
            </a:r>
            <a:r>
              <a:rPr lang="zh-CN" altLang="en-US" sz="2000">
                <a:solidFill>
                  <a:schemeClr val="tx1"/>
                </a:solidFill>
                <a:uFillTx/>
              </a:rPr>
              <a:t>都关系一下就得到了，每个词对其他词的注意力</a:t>
            </a:r>
            <a:br>
              <a:rPr lang="zh-CN" altLang="en-US" sz="2000">
                <a:solidFill>
                  <a:schemeClr val="tx1"/>
                </a:solidFill>
                <a:uFillTx/>
              </a:rPr>
            </a:br>
            <a:r>
              <a:rPr lang="zh-CN" altLang="en-US" sz="2000">
                <a:solidFill>
                  <a:schemeClr val="tx1"/>
                </a:solidFill>
                <a:uFillTx/>
              </a:rPr>
              <a:t>有一点就是在机械学习里一个向量默认都是横向量，这与高代学习时默认的列向量不同，所以我门</a:t>
            </a:r>
            <a:r>
              <a:rPr lang="en-US" altLang="zh-CN" sz="2000">
                <a:solidFill>
                  <a:schemeClr val="tx1"/>
                </a:solidFill>
                <a:uFillTx/>
              </a:rPr>
              <a:t>QK</a:t>
            </a:r>
            <a:r>
              <a:rPr lang="zh-CN" altLang="en-US" sz="2000">
                <a:solidFill>
                  <a:schemeClr val="tx1"/>
                </a:solidFill>
                <a:uFillTx/>
              </a:rPr>
              <a:t>是点积，得到的是一个权重数值而非</a:t>
            </a:r>
            <a:r>
              <a:rPr lang="zh-CN" altLang="en-US" sz="2000">
                <a:solidFill>
                  <a:schemeClr val="tx1"/>
                </a:solidFill>
                <a:uFillTx/>
              </a:rPr>
              <a:t>矩阵</a:t>
            </a:r>
            <a:endParaRPr lang="zh-CN" altLang="en-US" sz="2000">
              <a:solidFill>
                <a:schemeClr val="tx1"/>
              </a:solidFill>
              <a:uFillTx/>
            </a:endParaRPr>
          </a:p>
        </p:txBody>
      </p:sp>
      <p:pic>
        <p:nvPicPr>
          <p:cNvPr id="4" name="内容占位符 3"/>
          <p:cNvPicPr>
            <a:picLocks noChangeAspect="1"/>
          </p:cNvPicPr>
          <p:nvPr>
            <p:ph idx="1"/>
          </p:nvPr>
        </p:nvPicPr>
        <p:blipFill>
          <a:blip r:embed="rId1"/>
          <a:stretch>
            <a:fillRect/>
          </a:stretch>
        </p:blipFill>
        <p:spPr>
          <a:xfrm>
            <a:off x="1081405" y="560070"/>
            <a:ext cx="7743825" cy="4551680"/>
          </a:xfrm>
          <a:prstGeom prst="rect">
            <a:avLst/>
          </a:prstGeom>
        </p:spPr>
      </p:pic>
      <p:sp>
        <p:nvSpPr>
          <p:cNvPr id="5" name="文本框 4"/>
          <p:cNvSpPr txBox="1"/>
          <p:nvPr/>
        </p:nvSpPr>
        <p:spPr>
          <a:xfrm>
            <a:off x="8996680" y="560070"/>
            <a:ext cx="2957830" cy="4384040"/>
          </a:xfrm>
          <a:prstGeom prst="rect">
            <a:avLst/>
          </a:prstGeom>
          <a:noFill/>
        </p:spPr>
        <p:txBody>
          <a:bodyPr wrap="square" rtlCol="0">
            <a:noAutofit/>
          </a:bodyPr>
          <a:p>
            <a:r>
              <a:rPr lang="zh-CN" altLang="en-US"/>
              <a:t>简单理解的注意机制就是把</a:t>
            </a:r>
            <a:r>
              <a:rPr lang="en-US" altLang="zh-CN"/>
              <a:t>Q</a:t>
            </a:r>
            <a:r>
              <a:rPr lang="zh-CN" altLang="en-US"/>
              <a:t>转化为新的</a:t>
            </a:r>
            <a:r>
              <a:rPr lang="en-US" altLang="zh-CN"/>
              <a:t>V</a:t>
            </a:r>
            <a:r>
              <a:rPr lang="zh-CN" altLang="en-US"/>
              <a:t>，把代表含义的</a:t>
            </a:r>
            <a:r>
              <a:rPr lang="en-US" altLang="zh-CN"/>
              <a:t>embedding</a:t>
            </a:r>
            <a:r>
              <a:rPr lang="zh-CN" altLang="en-US"/>
              <a:t>改善一下</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位置</a:t>
            </a:r>
            <a:r>
              <a:rPr lang="zh-CN" altLang="en-US"/>
              <a:t>编码</a:t>
            </a:r>
            <a:endParaRPr lang="zh-CN" altLang="en-US"/>
          </a:p>
        </p:txBody>
      </p:sp>
      <p:sp>
        <p:nvSpPr>
          <p:cNvPr id="3" name="内容占位符 2"/>
          <p:cNvSpPr>
            <a:spLocks noGrp="1"/>
          </p:cNvSpPr>
          <p:nvPr>
            <p:ph idx="1"/>
          </p:nvPr>
        </p:nvSpPr>
        <p:spPr/>
        <p:txBody>
          <a:bodyPr/>
          <a:p>
            <a:r>
              <a:rPr lang="zh-CN" altLang="en-US"/>
              <a:t>将句子输入编码器的时候不能只进行一个</a:t>
            </a:r>
            <a:r>
              <a:rPr lang="en-US" altLang="zh-CN"/>
              <a:t>embedding</a:t>
            </a:r>
            <a:r>
              <a:rPr lang="zh-CN" altLang="en-US"/>
              <a:t>处理，我们还需要加入每个</a:t>
            </a:r>
            <a:r>
              <a:rPr lang="en-US" altLang="zh-CN"/>
              <a:t>token</a:t>
            </a:r>
            <a:r>
              <a:rPr lang="zh-CN" altLang="en-US"/>
              <a:t>的位置信息，所以需要加上一个数值，即位置</a:t>
            </a:r>
            <a:r>
              <a:rPr lang="zh-CN" altLang="en-US"/>
              <a:t>编码</a:t>
            </a:r>
            <a:endParaRPr lang="zh-CN" altLang="en-US"/>
          </a:p>
          <a:p>
            <a:endParaRPr lang="zh-CN" altLang="en-US"/>
          </a:p>
          <a:p>
            <a:endParaRPr lang="zh-CN" altLang="en-US"/>
          </a:p>
        </p:txBody>
      </p:sp>
      <p:pic>
        <p:nvPicPr>
          <p:cNvPr id="4" name="图片 3"/>
          <p:cNvPicPr>
            <a:picLocks noChangeAspect="1"/>
          </p:cNvPicPr>
          <p:nvPr/>
        </p:nvPicPr>
        <p:blipFill>
          <a:blip r:embed="rId1"/>
          <a:stretch>
            <a:fillRect/>
          </a:stretch>
        </p:blipFill>
        <p:spPr>
          <a:xfrm>
            <a:off x="2364105" y="3201035"/>
            <a:ext cx="7677785" cy="29762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编码器与</a:t>
            </a:r>
            <a:r>
              <a:rPr lang="zh-CN" altLang="en-US"/>
              <a:t>解码器</a:t>
            </a:r>
            <a:endParaRPr lang="zh-CN" altLang="en-US"/>
          </a:p>
        </p:txBody>
      </p:sp>
      <p:sp>
        <p:nvSpPr>
          <p:cNvPr id="3" name="内容占位符 2"/>
          <p:cNvSpPr>
            <a:spLocks noGrp="1"/>
          </p:cNvSpPr>
          <p:nvPr>
            <p:ph idx="1"/>
          </p:nvPr>
        </p:nvSpPr>
        <p:spPr>
          <a:xfrm>
            <a:off x="941070" y="1489075"/>
            <a:ext cx="4190365" cy="4768850"/>
          </a:xfrm>
        </p:spPr>
        <p:txBody>
          <a:bodyPr>
            <a:normAutofit fontScale="60000"/>
          </a:bodyPr>
          <a:p>
            <a:r>
              <a:rPr lang="en-US" altLang="zh-CN"/>
              <a:t>LN</a:t>
            </a:r>
            <a:r>
              <a:rPr lang="zh-CN" altLang="en-US"/>
              <a:t>与</a:t>
            </a:r>
            <a:r>
              <a:rPr lang="en-US" altLang="zh-CN"/>
              <a:t>BN</a:t>
            </a:r>
            <a:r>
              <a:rPr lang="zh-CN" altLang="en-US"/>
              <a:t>：这里是</a:t>
            </a:r>
            <a:r>
              <a:rPr lang="en-US" altLang="zh-CN"/>
              <a:t>LN</a:t>
            </a:r>
            <a:r>
              <a:rPr lang="zh-CN" altLang="en-US"/>
              <a:t>，同一</a:t>
            </a:r>
            <a:endParaRPr lang="zh-CN" altLang="en-US"/>
          </a:p>
          <a:p>
            <a:r>
              <a:rPr lang="zh-CN" altLang="en-US"/>
              <a:t>层里进行归一化</a:t>
            </a:r>
            <a:endParaRPr lang="zh-CN" altLang="en-US"/>
          </a:p>
          <a:p>
            <a:endParaRPr lang="zh-CN" altLang="en-US"/>
          </a:p>
          <a:p>
            <a:r>
              <a:rPr lang="zh-CN" altLang="en-US"/>
              <a:t>正常我们在</a:t>
            </a:r>
            <a:r>
              <a:rPr lang="en-US" altLang="zh-CN"/>
              <a:t>NLP</a:t>
            </a:r>
            <a:r>
              <a:rPr lang="zh-CN" altLang="en-US"/>
              <a:t>中的输入</a:t>
            </a:r>
            <a:endParaRPr lang="zh-CN" altLang="en-US"/>
          </a:p>
          <a:p>
            <a:r>
              <a:rPr lang="zh-CN" altLang="en-US"/>
              <a:t>维度是</a:t>
            </a:r>
            <a:r>
              <a:rPr lang="en-US" altLang="zh-CN"/>
              <a:t>[N,L,D]</a:t>
            </a:r>
            <a:r>
              <a:rPr lang="zh-CN" altLang="en-US"/>
              <a:t>，分别指批</a:t>
            </a:r>
            <a:endParaRPr lang="zh-CN" altLang="en-US"/>
          </a:p>
          <a:p>
            <a:r>
              <a:rPr lang="zh-CN" altLang="en-US"/>
              <a:t>次大小，序列长度，以及</a:t>
            </a:r>
            <a:endParaRPr lang="zh-CN" altLang="en-US"/>
          </a:p>
          <a:p>
            <a:r>
              <a:rPr lang="zh-CN" altLang="en-US"/>
              <a:t>隐藏层的维度，</a:t>
            </a:r>
            <a:r>
              <a:rPr lang="en-US" altLang="zh-CN"/>
              <a:t>BN</a:t>
            </a:r>
            <a:r>
              <a:rPr lang="zh-CN" altLang="en-US"/>
              <a:t>针对不同</a:t>
            </a:r>
            <a:endParaRPr lang="zh-CN" altLang="en-US"/>
          </a:p>
          <a:p>
            <a:r>
              <a:rPr lang="zh-CN" altLang="en-US"/>
              <a:t>的样本，而</a:t>
            </a:r>
            <a:r>
              <a:rPr lang="en-US" altLang="zh-CN"/>
              <a:t>LN</a:t>
            </a:r>
            <a:r>
              <a:rPr lang="zh-CN" altLang="en-US"/>
              <a:t>针对的是同一</a:t>
            </a:r>
            <a:endParaRPr lang="zh-CN" altLang="en-US"/>
          </a:p>
          <a:p>
            <a:r>
              <a:rPr lang="zh-CN" altLang="en-US"/>
              <a:t>个</a:t>
            </a:r>
            <a:r>
              <a:rPr lang="en-US" altLang="zh-CN"/>
              <a:t>embedding</a:t>
            </a:r>
            <a:endParaRPr lang="zh-CN" altLang="en-US"/>
          </a:p>
          <a:p>
            <a:endParaRPr lang="zh-CN" altLang="en-US"/>
          </a:p>
          <a:p>
            <a:r>
              <a:rPr lang="zh-CN" altLang="en-US"/>
              <a:t>由于</a:t>
            </a:r>
            <a:r>
              <a:rPr lang="en-US" altLang="zh-CN"/>
              <a:t>BN</a:t>
            </a:r>
            <a:r>
              <a:rPr lang="zh-CN" altLang="en-US"/>
              <a:t>计算会引入</a:t>
            </a:r>
            <a:r>
              <a:rPr lang="en-US" altLang="zh-CN"/>
              <a:t>padding</a:t>
            </a:r>
            <a:r>
              <a:rPr lang="zh-CN" altLang="en-US"/>
              <a:t>的</a:t>
            </a:r>
            <a:endParaRPr lang="zh-CN" altLang="en-US"/>
          </a:p>
          <a:p>
            <a:r>
              <a:rPr lang="en-US" altLang="zh-CN"/>
              <a:t>0</a:t>
            </a:r>
            <a:r>
              <a:rPr lang="zh-CN" altLang="en-US"/>
              <a:t>，所以会有</a:t>
            </a:r>
            <a:r>
              <a:rPr lang="zh-CN" altLang="en-US"/>
              <a:t>污染，</a:t>
            </a:r>
            <a:endParaRPr lang="zh-CN" altLang="en-US"/>
          </a:p>
        </p:txBody>
      </p:sp>
      <p:pic>
        <p:nvPicPr>
          <p:cNvPr id="4" name="图片 3"/>
          <p:cNvPicPr/>
          <p:nvPr/>
        </p:nvPicPr>
        <p:blipFill>
          <a:blip r:embed="rId1"/>
          <a:stretch>
            <a:fillRect/>
          </a:stretch>
        </p:blipFill>
        <p:spPr>
          <a:xfrm>
            <a:off x="5619750" y="365125"/>
            <a:ext cx="5586095" cy="57251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7470140" y="365125"/>
            <a:ext cx="4359910" cy="6237605"/>
          </a:xfrm>
          <a:prstGeom prst="rect">
            <a:avLst/>
          </a:prstGeom>
        </p:spPr>
      </p:pic>
      <p:sp>
        <p:nvSpPr>
          <p:cNvPr id="5" name="文本框 4"/>
          <p:cNvSpPr txBox="1"/>
          <p:nvPr/>
        </p:nvSpPr>
        <p:spPr>
          <a:xfrm>
            <a:off x="1499870" y="533400"/>
            <a:ext cx="5706745" cy="5115560"/>
          </a:xfrm>
          <a:prstGeom prst="rect">
            <a:avLst/>
          </a:prstGeom>
          <a:noFill/>
        </p:spPr>
        <p:txBody>
          <a:bodyPr wrap="square" rtlCol="0">
            <a:noAutofit/>
          </a:bodyPr>
          <a:p>
            <a:pPr indent="457200"/>
            <a:r>
              <a:rPr lang="zh-CN" altLang="en-US"/>
              <a:t>编码器我自己的理解就是一个</a:t>
            </a:r>
            <a:r>
              <a:rPr lang="en-US" altLang="zh-CN"/>
              <a:t>token</a:t>
            </a:r>
            <a:r>
              <a:rPr lang="zh-CN" altLang="en-US"/>
              <a:t>在不同语境里有不同的意思，应该每个意思对应一个</a:t>
            </a:r>
            <a:r>
              <a:rPr lang="en-US" altLang="zh-CN"/>
              <a:t>embedding</a:t>
            </a:r>
            <a:r>
              <a:rPr lang="zh-CN" altLang="en-US"/>
              <a:t>，但是我们输入的时候一个</a:t>
            </a:r>
            <a:r>
              <a:rPr lang="en-US" altLang="zh-CN"/>
              <a:t>token</a:t>
            </a:r>
            <a:r>
              <a:rPr lang="zh-CN" altLang="en-US"/>
              <a:t>只对应一个</a:t>
            </a:r>
            <a:r>
              <a:rPr lang="en-US" altLang="zh-CN"/>
              <a:t>embedding</a:t>
            </a:r>
            <a:r>
              <a:rPr lang="zh-CN" altLang="en-US"/>
              <a:t>，所以我们需要通过注意力计算让这个</a:t>
            </a:r>
            <a:r>
              <a:rPr lang="en-US" altLang="zh-CN"/>
              <a:t>embedding</a:t>
            </a:r>
            <a:r>
              <a:rPr lang="zh-CN" altLang="en-US"/>
              <a:t>从</a:t>
            </a:r>
            <a:r>
              <a:rPr lang="en-US" altLang="zh-CN"/>
              <a:t>token</a:t>
            </a:r>
            <a:r>
              <a:rPr lang="zh-CN" altLang="en-US"/>
              <a:t>对应变成含义对应，然后输出作为解码器的</a:t>
            </a:r>
            <a:r>
              <a:rPr lang="en-US" altLang="zh-CN"/>
              <a:t>KV</a:t>
            </a:r>
            <a:r>
              <a:rPr lang="zh-CN" altLang="en-US"/>
              <a:t>的原料</a:t>
            </a:r>
            <a:endParaRPr lang="zh-CN" altLang="en-US"/>
          </a:p>
          <a:p>
            <a:pPr indent="457200"/>
            <a:endParaRPr lang="zh-CN" altLang="en-US"/>
          </a:p>
          <a:p>
            <a:pPr indent="457200"/>
            <a:r>
              <a:rPr lang="zh-CN" altLang="en-US"/>
              <a:t>解码器首先要掩码计算一次注意力，（训练阶段，因为推理阶段不需要掩码本来就只有前面的输出）</a:t>
            </a:r>
            <a:endParaRPr lang="zh-CN" altLang="en-US"/>
          </a:p>
          <a:p>
            <a:pPr indent="457200"/>
            <a:r>
              <a:rPr lang="zh-CN" altLang="en-US"/>
              <a:t>这部分作用是对已经输出的内容进行注意力计算，彼此关联，输出结果作为下一层多层注意力</a:t>
            </a:r>
            <a:endParaRPr lang="zh-CN" altLang="en-US"/>
          </a:p>
          <a:p>
            <a:pPr indent="457200"/>
            <a:endParaRPr lang="zh-CN" altLang="en-US"/>
          </a:p>
          <a:p>
            <a:pPr indent="457200"/>
            <a:r>
              <a:rPr lang="zh-CN" altLang="en-US"/>
              <a:t>然后是解码器的输出，这个是我当时疑惑的地方，就是我们可以看到每次输出的</a:t>
            </a:r>
            <a:r>
              <a:rPr lang="en-US" altLang="zh-CN"/>
              <a:t>token</a:t>
            </a:r>
            <a:r>
              <a:rPr lang="zh-CN" altLang="en-US"/>
              <a:t>是取决与输出</a:t>
            </a:r>
            <a:r>
              <a:rPr lang="en-US" altLang="zh-CN"/>
              <a:t>Q</a:t>
            </a:r>
            <a:r>
              <a:rPr lang="zh-CN" altLang="en-US"/>
              <a:t>的数量的，但是随着推理的进行，</a:t>
            </a:r>
            <a:r>
              <a:rPr lang="en-US" altLang="zh-CN"/>
              <a:t>Q</a:t>
            </a:r>
            <a:r>
              <a:rPr lang="zh-CN" altLang="en-US"/>
              <a:t>在变多，所以其实每次计算得到的都是</a:t>
            </a:r>
            <a:r>
              <a:rPr lang="en-US" altLang="zh-CN"/>
              <a:t>n</a:t>
            </a:r>
            <a:r>
              <a:rPr lang="zh-CN" altLang="en-US"/>
              <a:t>个预测输出，然后把第</a:t>
            </a:r>
            <a:r>
              <a:rPr lang="en-US" altLang="zh-CN"/>
              <a:t>n</a:t>
            </a:r>
            <a:r>
              <a:rPr lang="zh-CN" altLang="en-US"/>
              <a:t>个直接输出就行，这是推理阶段，训练阶段则是根据与标准答案的差值计算损失（集束搜索除外，集束综合考虑前后概率取乘积最小的）</a:t>
            </a:r>
            <a:endParaRPr lang="en-US" altLang="zh-CN"/>
          </a:p>
        </p:txBody>
      </p:sp>
      <p:sp>
        <p:nvSpPr>
          <p:cNvPr id="6" name="文本框 5"/>
          <p:cNvSpPr txBox="1"/>
          <p:nvPr/>
        </p:nvSpPr>
        <p:spPr>
          <a:xfrm>
            <a:off x="1597660" y="5718175"/>
            <a:ext cx="5516245" cy="897890"/>
          </a:xfrm>
          <a:prstGeom prst="rect">
            <a:avLst/>
          </a:prstGeom>
          <a:noFill/>
        </p:spPr>
        <p:txBody>
          <a:bodyPr wrap="square" rtlCol="0">
            <a:noAutofit/>
          </a:bodyPr>
          <a:p>
            <a:pPr indent="457200"/>
            <a:r>
              <a:rPr lang="zh-CN" altLang="en-US"/>
              <a:t>从上面我们可以看到</a:t>
            </a:r>
            <a:r>
              <a:rPr lang="en-US" altLang="zh-CN"/>
              <a:t>transformer</a:t>
            </a:r>
            <a:r>
              <a:rPr lang="zh-CN" altLang="en-US"/>
              <a:t>的一个问题：</a:t>
            </a:r>
            <a:r>
              <a:rPr lang="en-US" altLang="zh-CN"/>
              <a:t>n</a:t>
            </a:r>
            <a:r>
              <a:rPr lang="zh-CN" altLang="en-US"/>
              <a:t>方级别的时间复杂度</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80415" y="-153670"/>
            <a:ext cx="10515600" cy="1325563"/>
          </a:xfrm>
        </p:spPr>
        <p:txBody>
          <a:bodyPr/>
          <a:p>
            <a:r>
              <a:rPr lang="en-US" altLang="zh-CN"/>
              <a:t>Vit</a:t>
            </a:r>
            <a:endParaRPr lang="en-US" altLang="zh-CN"/>
          </a:p>
        </p:txBody>
      </p:sp>
      <p:pic>
        <p:nvPicPr>
          <p:cNvPr id="4" name="内容占位符 3"/>
          <p:cNvPicPr>
            <a:picLocks noChangeAspect="1"/>
          </p:cNvPicPr>
          <p:nvPr>
            <p:ph idx="1"/>
          </p:nvPr>
        </p:nvPicPr>
        <p:blipFill>
          <a:blip r:embed="rId1"/>
          <a:stretch>
            <a:fillRect/>
          </a:stretch>
        </p:blipFill>
        <p:spPr>
          <a:xfrm>
            <a:off x="838200" y="895350"/>
            <a:ext cx="10515600" cy="3420110"/>
          </a:xfrm>
          <a:prstGeom prst="rect">
            <a:avLst/>
          </a:prstGeom>
        </p:spPr>
      </p:pic>
      <p:sp>
        <p:nvSpPr>
          <p:cNvPr id="5" name="文本框 4"/>
          <p:cNvSpPr txBox="1"/>
          <p:nvPr/>
        </p:nvSpPr>
        <p:spPr>
          <a:xfrm>
            <a:off x="1116330" y="5150485"/>
            <a:ext cx="9769475" cy="1340485"/>
          </a:xfrm>
          <a:prstGeom prst="rect">
            <a:avLst/>
          </a:prstGeom>
          <a:noFill/>
        </p:spPr>
        <p:txBody>
          <a:bodyPr wrap="square" rtlCol="0">
            <a:noAutofit/>
          </a:bodyPr>
          <a:p>
            <a:r>
              <a:rPr lang="zh-CN" altLang="en-US"/>
              <a:t>他只能做到单个的物品分类，看上去似乎远远比不上</a:t>
            </a:r>
            <a:r>
              <a:rPr lang="en-US" altLang="zh-CN"/>
              <a:t>FCN</a:t>
            </a:r>
            <a:r>
              <a:rPr lang="zh-CN" altLang="en-US"/>
              <a:t>像素点级别的分类，但是优势在于未来可期，训练数据给够可以体现出很不错的性能，相比之下</a:t>
            </a:r>
            <a:r>
              <a:rPr lang="en-US" altLang="zh-CN"/>
              <a:t>CNN</a:t>
            </a:r>
            <a:r>
              <a:rPr lang="zh-CN" altLang="en-US"/>
              <a:t>会容易饱和。</a:t>
            </a:r>
            <a:endParaRPr lang="zh-CN" altLang="en-US"/>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2820</Words>
  <Application>WPS 演示</Application>
  <PresentationFormat>宽屏</PresentationFormat>
  <Paragraphs>164</Paragraphs>
  <Slides>22</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22</vt:i4>
      </vt:variant>
    </vt:vector>
  </HeadingPairs>
  <TitlesOfParts>
    <vt:vector size="29" baseType="lpstr">
      <vt:lpstr>Arial</vt:lpstr>
      <vt:lpstr>宋体</vt:lpstr>
      <vt:lpstr>Wingdings</vt:lpstr>
      <vt:lpstr>微软雅黑</vt:lpstr>
      <vt:lpstr>Calibri</vt:lpstr>
      <vt:lpstr>Arial Unicode MS</vt:lpstr>
      <vt:lpstr>WPS</vt:lpstr>
      <vt:lpstr>PowerPoint 演示文稿</vt:lpstr>
      <vt:lpstr>损失</vt:lpstr>
      <vt:lpstr>PowerPoint 演示文稿</vt:lpstr>
      <vt:lpstr>PowerPoint 演示文稿</vt:lpstr>
      <vt:lpstr>神经网络</vt:lpstr>
      <vt:lpstr>全连接网络与多层感知机（MLP）</vt:lpstr>
      <vt:lpstr>卷积神经网络</vt:lpstr>
      <vt:lpstr>全卷积FCN</vt:lpstr>
      <vt:lpstr>循环神经网络（RNN）</vt:lpstr>
      <vt:lpstr>长短期记忆LSTM</vt:lpstr>
      <vt:lpstr>门控循环单元GRU</vt:lpstr>
      <vt:lpstr>循环神经网络比较</vt:lpstr>
      <vt:lpstr>Alexnet</vt:lpstr>
      <vt:lpstr>VGG</vt:lpstr>
      <vt:lpstr>Resnet</vt:lpstr>
      <vt:lpstr>GoogleNet</vt:lpstr>
      <vt:lpstr>attention</vt:lpstr>
      <vt:lpstr>对QKV的理解，这个图展示的很清楚，QK^T得到权重，V则是这个token的含义，如此将这个句子中每个token都关系一下就得到了，每个词对其他词的注意力 有一点就是在机械学习里一个向量默认都是横向量，这与高代学习时默认的列向量不同，所以我门QK是点积，得到的是一个权重数值而非矩阵</vt:lpstr>
      <vt:lpstr>位置编码</vt:lpstr>
      <vt:lpstr>编码器与解码器</vt:lpstr>
      <vt:lpstr>PowerPoint 演示文稿</vt:lpstr>
      <vt:lpstr>Vit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李轲</dc:creator>
  <cp:lastModifiedBy>李轲</cp:lastModifiedBy>
  <cp:revision>11</cp:revision>
  <dcterms:created xsi:type="dcterms:W3CDTF">2023-08-09T12:44:00Z</dcterms:created>
  <dcterms:modified xsi:type="dcterms:W3CDTF">2026-02-23T15:40:46Z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8F0A551D7FE34381B43F15FAA3DC1563_12</vt:lpwstr>
  </property>
</Properties>
</file>